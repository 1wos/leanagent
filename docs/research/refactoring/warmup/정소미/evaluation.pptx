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5fcf83ff142e3" /><Relationship Type="http://schemas.openxmlformats.org/officeDocument/2006/relationships/extended-properties" Target="/docProps/app.xml" Id="R517bc861294e4604" /><Relationship Type="http://schemas.openxmlformats.org/officeDocument/2006/relationships/officeDocument" Target="/ppt/presentation.xml" Id="R85334672f40b4a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5034f642084125"/>
  </p:sldMasterIdLst>
  <p:notesMasterIdLst>
    <p:notesMasterId xmlns:r="http://schemas.openxmlformats.org/officeDocument/2006/relationships" r:id="Rdf5d142efdec4f9b"/>
  </p:notesMasterIdLst>
  <p:sldIdLst>
    <p:sldId xmlns:r="http://schemas.openxmlformats.org/officeDocument/2006/relationships" id="256" r:id="Rd4f1c421016249b8"/>
    <p:sldId xmlns:r="http://schemas.openxmlformats.org/officeDocument/2006/relationships" id="257" r:id="R73059257bdd743b2"/>
    <p:sldId xmlns:r="http://schemas.openxmlformats.org/officeDocument/2006/relationships" id="258" r:id="Rde02c66b78384789"/>
    <p:sldId xmlns:r="http://schemas.openxmlformats.org/officeDocument/2006/relationships" id="259" r:id="Rbcf3909a806b400d"/>
    <p:sldId xmlns:r="http://schemas.openxmlformats.org/officeDocument/2006/relationships" id="260" r:id="Rccdd52db7d6d433a"/>
    <p:sldId xmlns:r="http://schemas.openxmlformats.org/officeDocument/2006/relationships" id="261" r:id="Rb0d8328ddf814433"/>
    <p:sldId xmlns:r="http://schemas.openxmlformats.org/officeDocument/2006/relationships" id="262" r:id="Rf2103762b6be4cb0"/>
    <p:sldId xmlns:r="http://schemas.openxmlformats.org/officeDocument/2006/relationships" id="263" r:id="R75d94a32e8744d44"/>
    <p:sldId xmlns:r="http://schemas.openxmlformats.org/officeDocument/2006/relationships" id="264" r:id="Ra6b5c49ca6c44ede"/>
    <p:sldId xmlns:r="http://schemas.openxmlformats.org/officeDocument/2006/relationships" id="265" r:id="Rb30cf0ba66ce47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f6282f4ad444dd" /><Relationship Type="http://schemas.openxmlformats.org/officeDocument/2006/relationships/slideMaster" Target="/ppt/slideMasters/slideMaster1.xml" Id="R6f5034f642084125" /><Relationship Type="http://schemas.openxmlformats.org/officeDocument/2006/relationships/notesMaster" Target="/ppt/notesMasters/notesMaster1.xml" Id="Rdf5d142efdec4f9b" /><Relationship Type="http://schemas.openxmlformats.org/officeDocument/2006/relationships/presProps" Target="/ppt/presProps.xml" Id="R03d6f7406e33415d" /><Relationship Type="http://schemas.openxmlformats.org/officeDocument/2006/relationships/tableStyles" Target="/ppt/tableStyles.xml" Id="R2c56adb0a2c24698" /><Relationship Type="http://schemas.openxmlformats.org/officeDocument/2006/relationships/slide" Target="/ppt/slides/slide1.xml" Id="Rd4f1c421016249b8" /><Relationship Type="http://schemas.openxmlformats.org/officeDocument/2006/relationships/slide" Target="/ppt/slides/slide2.xml" Id="R73059257bdd743b2" /><Relationship Type="http://schemas.openxmlformats.org/officeDocument/2006/relationships/slide" Target="/ppt/slides/slide3.xml" Id="Rde02c66b78384789" /><Relationship Type="http://schemas.openxmlformats.org/officeDocument/2006/relationships/slide" Target="/ppt/slides/slide4.xml" Id="Rbcf3909a806b400d" /><Relationship Type="http://schemas.openxmlformats.org/officeDocument/2006/relationships/slide" Target="/ppt/slides/slide5.xml" Id="Rccdd52db7d6d433a" /><Relationship Type="http://schemas.openxmlformats.org/officeDocument/2006/relationships/slide" Target="/ppt/slides/slide6.xml" Id="Rb0d8328ddf814433" /><Relationship Type="http://schemas.openxmlformats.org/officeDocument/2006/relationships/slide" Target="/ppt/slides/slide7.xml" Id="Rf2103762b6be4cb0" /><Relationship Type="http://schemas.openxmlformats.org/officeDocument/2006/relationships/slide" Target="/ppt/slides/slide8.xml" Id="R75d94a32e8744d44" /><Relationship Type="http://schemas.openxmlformats.org/officeDocument/2006/relationships/slide" Target="/ppt/slides/slide9.xml" Id="Ra6b5c49ca6c44ede" /><Relationship Type="http://schemas.openxmlformats.org/officeDocument/2006/relationships/slide" Target="/ppt/slides/slide10.xml" Id="Rb30cf0ba66ce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09b43620f147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a9552090541c8" /><Relationship Type="http://schemas.openxmlformats.org/officeDocument/2006/relationships/notesMaster" Target="/ppt/notesMasters/notesMaster1.xml" Id="Rfe8a3dd7e1ac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823d274f8f4548" /><Relationship Type="http://schemas.openxmlformats.org/officeDocument/2006/relationships/notesMaster" Target="/ppt/notesMasters/notesMaster1.xml" Id="Re3ad56edd24b42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3ba76d34104274" /><Relationship Type="http://schemas.openxmlformats.org/officeDocument/2006/relationships/notesMaster" Target="/ppt/notesMasters/notesMaster1.xml" Id="R4967c5ef15e5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825f875fc74fbf" /><Relationship Type="http://schemas.openxmlformats.org/officeDocument/2006/relationships/notesMaster" Target="/ppt/notesMasters/notesMaster1.xml" Id="R1cf2644d84d0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2eb461ed954a53" /><Relationship Type="http://schemas.openxmlformats.org/officeDocument/2006/relationships/notesMaster" Target="/ppt/notesMasters/notesMaster1.xml" Id="R38d25656d69c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86803e7ecc4ea5" /><Relationship Type="http://schemas.openxmlformats.org/officeDocument/2006/relationships/notesMaster" Target="/ppt/notesMasters/notesMaster1.xml" Id="R4daf543406994c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834556f0a740f8" /><Relationship Type="http://schemas.openxmlformats.org/officeDocument/2006/relationships/notesMaster" Target="/ppt/notesMasters/notesMaster1.xml" Id="Ra96f1c7d048c4c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102f83d994458c" /><Relationship Type="http://schemas.openxmlformats.org/officeDocument/2006/relationships/notesMaster" Target="/ppt/notesMasters/notesMaster1.xml" Id="Racbb7034390c4c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1db5e870414bc3" /><Relationship Type="http://schemas.openxmlformats.org/officeDocument/2006/relationships/notesMaster" Target="/ppt/notesMasters/notesMaster1.xml" Id="R6bfdd3879aec4b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34f04316124ca5" /><Relationship Type="http://schemas.openxmlformats.org/officeDocument/2006/relationships/notesMaster" Target="/ppt/notesMasters/notesMaster1.xml" Id="R75f47aff3c3c44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e7d0a3371f42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906af86794f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1a5e4f94d4d5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9b6cc32274e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ff75a15da48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9b263707b40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E5C355-DA6B-41D9-B66B-ECC3CF6B4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6B31ED-D1A5-440C-8BD0-347BAFB8D6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6C4F61-283F-4660-951E-C44475ED2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A43B74-DEE8-45D0-B0B9-788CC03EB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469F0C-C1EF-49F9-94B4-EA66F52127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7E59CB-1403-4A46-AFD3-BA1F1E7BA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B8AA84-A57B-489A-9469-00666CC4CB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6BE989-20B3-4CC2-9644-4FF8046C79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5B7ED0-3B31-4D76-AF42-2687BEACF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575AE4-4BDB-4BB0-824C-0FEAA8A3B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73b0a21b54bde" /><Relationship Type="http://schemas.openxmlformats.org/officeDocument/2006/relationships/slideLayout" Target="/ppt/slideLayouts/slideLayout1.xml" Id="R124463389ca04d33" /><Relationship Type="http://schemas.openxmlformats.org/officeDocument/2006/relationships/slideLayout" Target="/ppt/slideLayouts/slideLayout2.xml" Id="Rdbfb2ddc248e4e89" /><Relationship Type="http://schemas.openxmlformats.org/officeDocument/2006/relationships/slideLayout" Target="/ppt/slideLayouts/slideLayout3.xml" Id="Ra2535d5b129e4c03" /><Relationship Type="http://schemas.openxmlformats.org/officeDocument/2006/relationships/slideLayout" Target="/ppt/slideLayouts/slideLayout4.xml" Id="R4bf984f3f3df471c" /><Relationship Type="http://schemas.openxmlformats.org/officeDocument/2006/relationships/slideLayout" Target="/ppt/slideLayouts/slideLayout5.xml" Id="R7d07fe973e334111" /><Relationship Type="http://schemas.openxmlformats.org/officeDocument/2006/relationships/slideLayout" Target="/ppt/slideLayouts/slideLayout6.xml" Id="R6034d1fbdf5d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4463389ca04d33"/>
    <p:sldLayoutId xmlns:r="http://schemas.openxmlformats.org/officeDocument/2006/relationships" id="2147483650" r:id="Rdbfb2ddc248e4e89"/>
    <p:sldLayoutId xmlns:r="http://schemas.openxmlformats.org/officeDocument/2006/relationships" id="2147483651" r:id="Ra2535d5b129e4c03"/>
    <p:sldLayoutId xmlns:r="http://schemas.openxmlformats.org/officeDocument/2006/relationships" id="2147483652" r:id="R4bf984f3f3df471c"/>
    <p:sldLayoutId xmlns:r="http://schemas.openxmlformats.org/officeDocument/2006/relationships" id="2147483653" r:id="R7d07fe973e334111"/>
    <p:sldLayoutId xmlns:r="http://schemas.openxmlformats.org/officeDocument/2006/relationships" id="2147483654" r:id="R6034d1fbdf5d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753f73d914a2a" /><Relationship Type="http://schemas.openxmlformats.org/officeDocument/2006/relationships/notesSlide" Target="/ppt/notesSlides/notesSlide1.xml" Id="R897a62c940174a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f4ad13c07c412f" /><Relationship Type="http://schemas.openxmlformats.org/officeDocument/2006/relationships/notesSlide" Target="/ppt/notesSlides/notesSlide2.xml" Id="R717f2615b47e4e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dc9273b8d4e23" /><Relationship Type="http://schemas.openxmlformats.org/officeDocument/2006/relationships/hyperlink" Target="https://www.alphaxiv.org/pdf/2510.15700" TargetMode="External" Id="R51b564d25a384173" /><Relationship Type="http://schemas.openxmlformats.org/officeDocument/2006/relationships/hyperlink" Target="https://www.alphaxiv.org/pdf/2410.04753" TargetMode="External" Id="Rc51c7cd1babe4515" /><Relationship Type="http://schemas.openxmlformats.org/officeDocument/2006/relationships/hyperlink" Target="https://www.alphaxiv.org/pdf/2605.20244" TargetMode="External" Id="Re34001a1b42a427d" /><Relationship Type="http://schemas.openxmlformats.org/officeDocument/2006/relationships/hyperlink" Target="https://aclanthology.org/2022.emnlp-main.150.pdf#page=2" TargetMode="External" Id="R398ea2d114774320" /><Relationship Type="http://schemas.openxmlformats.org/officeDocument/2006/relationships/notesSlide" Target="/ppt/notesSlides/notesSlide3.xml" Id="R9edc3eea4cbd41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3db5a17cc4c96" /><Relationship Type="http://schemas.openxmlformats.org/officeDocument/2006/relationships/chart" Target="/ppt/slides/charts/chart1.xml" Id="R82cbff2b61ff4bfa" /><Relationship Type="http://schemas.openxmlformats.org/officeDocument/2006/relationships/notesSlide" Target="/ppt/notesSlides/notesSlide4.xml" Id="R0a54c436817846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76e38529394ed7" /><Relationship Type="http://schemas.openxmlformats.org/officeDocument/2006/relationships/notesSlide" Target="/ppt/notesSlides/notesSlide5.xml" Id="R8ae5d817a285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e6df2b6a644f6b" /><Relationship Type="http://schemas.openxmlformats.org/officeDocument/2006/relationships/notesSlide" Target="/ppt/notesSlides/notesSlide6.xml" Id="R6930a5dd4fa944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a2addaafe49e6" /><Relationship Type="http://schemas.openxmlformats.org/officeDocument/2006/relationships/chart" Target="/ppt/slides/charts/chart2.xml" Id="Rdc71f0739f2e4bfe" /><Relationship Type="http://schemas.openxmlformats.org/officeDocument/2006/relationships/notesSlide" Target="/ppt/notesSlides/notesSlide7.xml" Id="R4ff67ea3907440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f1e00f1fa47de" /><Relationship Type="http://schemas.openxmlformats.org/officeDocument/2006/relationships/notesSlide" Target="/ppt/notesSlides/notesSlide8.xml" Id="Rc541909c5335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f93e5f4a3d4760" /><Relationship Type="http://schemas.openxmlformats.org/officeDocument/2006/relationships/notesSlide" Target="/ppt/notesSlides/notesSlide9.xml" Id="R2505bbbc44f641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9dd3736ac4a52" /><Relationship Type="http://schemas.openxmlformats.org/officeDocument/2006/relationships/notesSlide" Target="/ppt/notesSlides/notesSlide10.xml" Id="R75a83dcb481b48f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성공 후보만</c:v>
          </c:tx>
          <c:spPr>
            <a:solidFill xmlns:a="http://schemas.openxmlformats.org/drawingml/2006/main">
              <a:srgbClr val="ADB7C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4번 길이</c:v>
                </c:pt>
                <c:pt idx="1">
                  <c:v>4번 HB</c:v>
                </c:pt>
                <c:pt idx="2">
                  <c:v>9번 길이</c:v>
                </c:pt>
                <c:pt idx="3">
                  <c:v>9번 HB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0.59702871</c:v>
                </c:pt>
                <c:pt idx="1">
                  <c:v>0.66084731</c:v>
                </c:pt>
                <c:pt idx="2">
                  <c:v>0.47609562</c:v>
                </c:pt>
                <c:pt idx="3">
                  <c:v>0.86788987</c:v>
                </c:pt>
              </c:numCache>
            </c:numRef>
          </c:val>
        </c:ser>
        <c:ser>
          <c:idx val="1"/>
          <c:order val="1"/>
          <c:tx>
            <c:v>실패 포함</c:v>
          </c:tx>
          <c:spPr>
            <a:solidFill xmlns:a="http://schemas.openxmlformats.org/drawingml/2006/main">
              <a:srgbClr val="2687E8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4번 길이</c:v>
                </c:pt>
                <c:pt idx="1">
                  <c:v>4번 HB</c:v>
                </c:pt>
                <c:pt idx="2">
                  <c:v>9번 길이</c:v>
                </c:pt>
                <c:pt idx="3">
                  <c:v>9번 HB</c:v>
                </c:pt>
              </c:strCache>
            </c:str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0.55722679</c:v>
                </c:pt>
                <c:pt idx="1">
                  <c:v>0.61679083</c:v>
                </c:pt>
                <c:pt idx="2">
                  <c:v>0.43947288</c:v>
                </c:pt>
                <c:pt idx="3">
                  <c:v>0.80112911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A2E33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A2E33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4번</c:v>
          </c:tx>
          <c:spPr>
            <a:ln xmlns:a="http://schemas.openxmlformats.org/drawingml/2006/main" w="28575">
              <a:solidFill>
                <a:srgbClr val="2687E8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687E8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0.55722679</c:v>
                </c:pt>
                <c:pt idx="1">
                  <c:v>0.74808349</c:v>
                </c:pt>
                <c:pt idx="2">
                  <c:v>0.83130125</c:v>
                </c:pt>
                <c:pt idx="3">
                  <c:v>0.84598146</c:v>
                </c:pt>
              </c:numCache>
            </c:numRef>
          </c:val>
        </c:ser>
        <c:ser>
          <c:idx val="1"/>
          <c:order val="1"/>
          <c:tx>
            <c:v>9번</c:v>
          </c:tx>
          <c:spPr>
            <a:ln xmlns:a="http://schemas.openxmlformats.org/drawingml/2006/main" w="28575">
              <a:solidFill>
                <a:srgbClr val="6B7480"/>
              </a:solidFill>
            </a:ln>
          </c:spPr>
          <c:marker>
            <c:symbol val="square"/>
            <c:size val="8"/>
            <c:spPr>
              <a:solidFill xmlns:a="http://schemas.openxmlformats.org/drawingml/2006/main">
                <a:srgbClr val="6B7480"/>
              </a:solidFill>
            </c:spPr>
          </c:marker>
          <c:cat>
            <c:numRef>
              <c:f>'Chart Data'!$C$2:$C$5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numCache>
            </c:numRef>
          </c:cat>
          <c:val>
            <c:numRef>
              <c:f>'Chart Data'!$D$2:$D$5</c:f>
              <c:numCache>
                <c:formatCode>0%</c:formatCode>
                <c:ptCount val="4"/>
                <c:pt idx="0">
                  <c:v>0.44284401</c:v>
                </c:pt>
                <c:pt idx="1">
                  <c:v>0.57978343</c:v>
                </c:pt>
                <c:pt idx="2">
                  <c:v>0.64928538</c:v>
                </c:pt>
                <c:pt idx="3">
                  <c:v>0.67640549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A2E33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6B7480"/>
                    </a:solidFill>
                    <a:latin typeface="Pretendard"/>
                    <a:ea typeface="Pretendard"/>
                    <a:cs typeface="Pretendard"/>
                  </a:rPr>
                  <a:t>검토 후보 수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6B7480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AF0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2A2E33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228A2-6B78-4B1B-8200-C29B9736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1734B-E670-4612-BCA2-46403E1A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LeanAgent  WEEK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47929-BD37-4E72-A625-B685F87C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30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630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630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후보 선택과</a:t>
            </a:r>
          </a:p>
          <a:p xmlns:a="http://schemas.openxmlformats.org/drawingml/2006/main">
            <a:pPr>
              <a:defRPr sz="630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630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실패 집계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9C5E1-5FB3-4405-A8D0-3FEE7C5C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4·9번으로 확인한 평가 기준의 영향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BEF78-C23C-499A-B45D-C4159FC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정소미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68221-8EF3-4F74-8151-0F575073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0102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2026년 10월 18일</a:t>
            </a:r>
          </a:p>
        </p:txBody>
      </p:sp>
    </p:spTree>
    <p:extLst>
      <p:ext uri="{BB962C8B-B14F-4D97-AF65-F5344CB8AC3E}">
        <p14:creationId xmlns:p14="http://schemas.microsoft.com/office/powerpoint/2010/main" val="1038263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6B3ED-3254-4C2F-B8E3-3293DB0E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기존 후보 28개를 같은 환경에서 다시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B01A6-6C09-497D-9866-3F73182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환경과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E2094-70D8-4024-80A5-44A6A9A1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03400-A9BC-42EC-9875-4660FDAA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method-comparison/protocol.json, results/pool/results.json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BA0F0-37FD-40A8-9236-1EDC70826A5E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762250"/>
                <a:gridCol w="2190750"/>
                <a:gridCol w="4686300"/>
              </a:tblGrid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후보 / 통과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고정 환경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15개 / 14개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1개 통과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Lean 4.32.0</a:t>
                      </a:r>
                    </a:p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PhysLib c484336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13개 / 12개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1개 통과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Lean 4.32.0</a:t>
                      </a:r>
                    </a:p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CSLib 197a7be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375F7-43C5-4DC5-8BB6-90EA8ECF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길이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E2540-7550-42C4-9E42-D990A143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증명 구문 토큰 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33C14-BD74-4062-B45E-801BF548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heartbeat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AB985-D598-40B4-A41C-50D749BB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Lean 검증 작업량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41089-9E62-4DB0-83D2-BC7635B6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각 후보 1회 새 검증. 최종 증명은 같은 후보와 중복 집계하지 않음.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E972-B99F-4192-9474-A6FADD6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저장된 입력 30개, 완료 컴파일 60회. 새 후보 생성·수리용 LLM 호출 0회.</a:t>
            </a:r>
          </a:p>
        </p:txBody>
      </p:sp>
    </p:spTree>
    <p:extLst>
      <p:ext uri="{BB962C8B-B14F-4D97-AF65-F5344CB8AC3E}">
        <p14:creationId xmlns:p14="http://schemas.microsoft.com/office/powerpoint/2010/main" val="21243300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C1808-C533-419E-8A37-0A42A775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논문에서 가져온 방법과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D5F4F-841E-451A-BC95-DFBBF1F0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비교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3120B-B104-43A5-8FCC-A6D2889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F358-979B-4C3E-BEB5-3F218E87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원문의 평가 단위·표본 생성 방식과 달라진 부분을 보고서에 명시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24C9-8FD7-4CFE-A9D6-9AA1536825A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333750"/>
                <a:gridCol w="4876800"/>
              </a:tblGrid>
              <a:tr h="6667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논문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참고한 방법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이번 적용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6667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ProofOptimizer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min@k / red@k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과거 후보의 모든 k개 조합 계산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ImProver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실패한 출력의 개선량 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시도 수로 나눈 평균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Lean Refactor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길이·heartbeat 분리 측정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기준과 가중치 비교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Arvan 등 (2022)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재현에 필요한 자료 구성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입력·환경·로그·재실행 코드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AE543-096E-44E3-8649-65F7BABD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후보 단위의 후향 평가. 논문의 전체 학습·에이전트 알고리즘은 구현하지 않음.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5EB34-8A4C-4331-A40C-A12E92E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51b564d25a384173"/>
              </a:rPr>
              <a:t>ProofOptimizer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958EC-872C-4D6C-BACD-C905CDB5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6048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c51c7cd1babe4515"/>
              </a:rPr>
              <a:t>ImProver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4A1DB-67E2-4A5B-A2F3-B23F41B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048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e34001a1b42a427d"/>
              </a:rPr>
              <a:t>Lean Refactor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C3473-CD0F-42FF-9E54-BD064C76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048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687E8"/>
                </a:solidFill>
                <a:latin typeface="Pretendard"/>
                <a:ea typeface="Pretendard"/>
                <a:cs typeface="Pretendard"/>
                <a:hlinkClick xmlns:r="http://schemas.openxmlformats.org/officeDocument/2006/relationships" r:id="R398ea2d114774320"/>
              </a:rPr>
              <a:t>Arvan 등</a:t>
            </a:r>
          </a:p>
        </p:txBody>
      </p:sp>
    </p:spTree>
    <p:extLst>
      <p:ext uri="{BB962C8B-B14F-4D97-AF65-F5344CB8AC3E}">
        <p14:creationId xmlns:p14="http://schemas.microsoft.com/office/powerpoint/2010/main" val="5633084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1294-EA33-4AF0-9A13-85F85F12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실패를 빼면 평균 개선율이 높아졌다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3D8AA-1615-4CB8-B2B2-674C7D6B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결과와 비용  /  같은 실행 결과, 다른 분모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6BA28-D3A7-4AF5-972C-B6ED25D4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EE2DD-208B-435D-A213-C8DA0328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results/analysis/failure_accounting.csv. %p는 퍼센트포인트.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8CA7304-22EA-4325-B515-DD90CEF5B0EE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cbff2b61ff4bf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9514-4E8A-425C-A42A-85BAC07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최대 차이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2D785-9FBB-4E63-B070-2D63261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771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1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615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6.68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24A9-E1E4-4EBD-83B4-F080273B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0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%p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87AE8-8769-4B54-A1E6-9877DB2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72000"/>
            <a:ext cx="27717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9번 heartbeat</a:t>
            </a:r>
          </a:p>
          <a:p xmlns:a="http://schemas.openxmlformats.org/drawingml/2006/main">
            <a:pPr>
              <a:defRPr sz="18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86.79%와 80.11%</a:t>
            </a:r>
          </a:p>
        </p:txBody>
      </p:sp>
    </p:spTree>
    <p:extLst>
      <p:ext uri="{BB962C8B-B14F-4D97-AF65-F5344CB8AC3E}">
        <p14:creationId xmlns:p14="http://schemas.microsoft.com/office/powerpoint/2010/main" val="981885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49CCB-CB34-49FD-8031-49582BAB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9번의 최선 후보는 기준에 따라 달라졌다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AAB65-192E-4B23-ABB7-BBEC8C18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결과와 비용  /  길이와 heartbeat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82442-88B1-43E5-9A06-FA40FDB9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ECE88-A3CD-4949-A6E9-BFCD8741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results/analysis/selection.csv. 길이는 구문 토큰 수.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5606-3C12-4922-90D7-CB753F5EF09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476500"/>
                <a:gridCol w="2952750"/>
                <a:gridCol w="1714500"/>
                <a:gridCol w="2876550"/>
              </a:tblGrid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기준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후보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heartbeat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 최소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research_03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1,411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heartbeat 최소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research_03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1,411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비중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research_03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1,411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 최소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heartbeat 최소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비중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attempt_12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7EA0D-4AA9-422F-A462-3DD4F75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같은 비중의 비용 = 0.5 × 길이/참조 길이 + 0.5 × HB/참조 HB</a:t>
            </a:r>
          </a:p>
        </p:txBody>
      </p:sp>
    </p:spTree>
    <p:extLst>
      <p:ext uri="{BB962C8B-B14F-4D97-AF65-F5344CB8AC3E}">
        <p14:creationId xmlns:p14="http://schemas.microsoft.com/office/powerpoint/2010/main" val="856541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72-EE8E-46D4-9A00-4A9E20DC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Pareto 후보 5개 중 가중합은 2개를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A1C10-3FE2-433E-B42D-24E803A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결과와 비용  /  9번 후보의 선택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7D328-F693-4C8C-877F-76BC537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A8910-C279-4D2E-BCB0-319294C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pareto_frontier.csv, weight_intervals.csv. 경계는 반올림 값.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27413-1D8C-4EBA-ADDA-B2060DA0E7C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524000"/>
                <a:gridCol w="1524000"/>
                <a:gridCol w="5210175"/>
              </a:tblGrid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Pareto 후보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HB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가중합에서 선택되는 구간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attempt_12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 비중 20.56% 이상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attempt_10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최선으로 선택되지 않음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attempt_09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최선으로 선택되지 않음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attempt_08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최선으로 선택되지 않음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attempt_07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길이 비중 20.56% 미만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052A6-C72E-43C9-9965-D22FFB5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가중합은 각 지표를 참조 값으로 정규화. 경계 동률은 짧은 후보를 선택.</a:t>
            </a:r>
          </a:p>
        </p:txBody>
      </p:sp>
    </p:spTree>
    <p:extLst>
      <p:ext uri="{BB962C8B-B14F-4D97-AF65-F5344CB8AC3E}">
        <p14:creationId xmlns:p14="http://schemas.microsoft.com/office/powerpoint/2010/main" val="1918500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2ECEB-4078-4CED-8BEE-781561E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검토 후보 수가 많아질수록 평균 최선값도 달라졌다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C08B-F1A9-4315-8876-305CA873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결과와 비용  /  고정 후보 목록의 길이 red@k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5A221-FDBA-46B0-8BB5-9AD56D1F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2FBAC-F96F-4053-B4D5-6B274BA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budget_curve.csv. k는 과거 후보의 검토 개수이며 새 API 호출 횟수가 아님.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F44E0CC-2345-4272-A148-859895146565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71f0739f2e4bf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4A8FE-42E2-445F-822B-3E2C0B1F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전체 후보 사용: 4번 15개에서 85.55%, 9번 13개에서 68.53%</a:t>
            </a:r>
          </a:p>
        </p:txBody>
      </p:sp>
    </p:spTree>
    <p:extLst>
      <p:ext uri="{BB962C8B-B14F-4D97-AF65-F5344CB8AC3E}">
        <p14:creationId xmlns:p14="http://schemas.microsoft.com/office/powerpoint/2010/main" val="6714400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42EC1-6A52-4188-9EA0-ADF47566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컴파일 실패 후보의 측정값은 제외했다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7AF01-AC90-45E6-AEEB-783E6237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실패 원인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1217C-5449-40DA-9737-42159BCD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8718C-7E4F-43DA-993D-0D4579BA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results/pool/logs/P4-attempt_05.log, P9-attempt_03.log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399AA-74BF-4198-A2B2-A026A0968148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191000"/>
                <a:gridCol w="3829050"/>
              </a:tblGrid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실패 후보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오류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처리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 attempt_05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인수 타입 불일치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개선량 0</a:t>
                      </a:r>
                    </a:p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시도 수에 포함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 attempt_03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Unknown identifier 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개선량 0</a:t>
                      </a:r>
                    </a:p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전체 시도 수에 포함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A5FFC-BBD3-4F55-B269-27B7579C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두 후보 모두 컴파일 오류와 sorryAx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E8265-465D-4951-B670-F59632E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오류 중 출력된 heartbeat는 유효한 증명의 지표로 사용하지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4236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CE4BD-1F0E-4CD5-86E4-F93FC1B6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반복 실행에서 같은 조건의 측정값은 유지됐다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B65DB-6875-47BD-A906-9B767BA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기초 재현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E1930-76C8-4C08-90CD-BCD4E860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D525E-E900-4146-A818-951A71F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근거: evidence/reproducibility/results. 참조·최종 각 3회, 총 24건.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89514-7A1A-4538-BA74-93A9B689625A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381375"/>
                <a:gridCol w="2667000"/>
                <a:gridCol w="3400425"/>
              </a:tblGrid>
              <a:tr h="60960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문제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Lean 버전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길이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B7480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최종 heartbeat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T w="5715">
                      <a:solidFill>
                        <a:srgbClr val="E6EAF0"/>
                      </a:solidFill>
                      <a:prstDash val="solid"/>
                    </a:lnT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E3F3FF"/>
                    </a:solidFill>
                  </a:tcPr>
                </a:tc>
              </a:tr>
              <a:tr h="60960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4.32.0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1,411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4.31.0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4.32.0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516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2687E8"/>
                          </a:solidFill>
                          <a:latin typeface="Pretendard"/>
                          <a:ea typeface="Pretendard"/>
                          <a:cs typeface="Pretendard"/>
                        </a:rPr>
                        <a:t>9번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E6EAF0"/>
                      </a:solidFill>
                      <a:prstDash val="solid"/>
                    </a:lnL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4.33.0-rc2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14300" bIns="7620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A2E33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E6EAF0"/>
                      </a:solidFill>
                      <a:prstDash val="solid"/>
                    </a:lnR>
                    <a:lnB w="5715">
                      <a:solidFill>
                        <a:srgbClr val="E6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D3BD5-0CAA-4A8B-955B-9BA59271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7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4875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24/24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0A99B-4113-4BC4-A099-E9CCD509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24475"/>
            <a:ext cx="7772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반복 입력 통과</a:t>
            </a:r>
          </a:p>
          <a:p xmlns:a="http://schemas.openxmlformats.org/drawingml/2006/main">
            <a:pPr>
              <a:defRPr sz="2100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같은 조건에서 길이·heartbeat 일정</a:t>
            </a:r>
          </a:p>
        </p:txBody>
      </p:sp>
    </p:spTree>
    <p:extLst>
      <p:ext uri="{BB962C8B-B14F-4D97-AF65-F5344CB8AC3E}">
        <p14:creationId xmlns:p14="http://schemas.microsoft.com/office/powerpoint/2010/main" val="1218089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A24E6-FE09-4C74-85D7-83EDCAD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이번 평가에서 얻은 포인트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4742F-80DD-4BB5-9AEB-62B5F915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평가 결과를 공유할 때 함께 고려할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D2B27-6697-44B5-8472-87E407B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F20E6-EFDF-44F4-8E67-C690EE1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B7480"/>
                </a:solidFill>
                <a:latin typeface="Pretendard"/>
                <a:ea typeface="Pretendard"/>
                <a:cs typeface="Pretendard"/>
              </a:rPr>
              <a:t>해석 범위: 두 문제의 과거 후보에 대한 평가. 새 모델 성능과 독립 환경 재현은 미검증.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08BB4A-7AFA-467B-B0F4-811EC4C6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확인한 차이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852CE-11D1-450F-85ED-D2EFF1B2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9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687E8"/>
                </a:solidFill>
                <a:latin typeface="Pretendard"/>
                <a:ea typeface="Pretendard"/>
                <a:cs typeface="Pretendard"/>
              </a:rPr>
              <a:t>다음 평가에서 남길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97B93-1595-41A3-8388-A6DC153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실패 제외로 평균 개선율이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3.66-6.68%p 높아짐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D1013-525F-432B-BC0D-E8E825E5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전체 시도 수와 실패 수를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함께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B6423-0070-4C1B-A5ED-BEA2D925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9번의 길이 최선 후보와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heartbeat 최선 후보가 다름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4299-A6E4-4A91-B51E-BDF2499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선택 지표, 정규화와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가중치를 먼저 정함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A20D3-2081-4FC9-87F6-0D165EA7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검토 후보 수에 따라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평균 최선값이 달라짐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E0109-5A5F-486D-A91D-8A868C22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391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같은 후보 수로 비교하고</a:t>
            </a:r>
          </a:p>
          <a:p xmlns:a="http://schemas.openxmlformats.org/drawingml/2006/main">
            <a:pPr>
              <a:def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A2E33"/>
                </a:solidFill>
                <a:latin typeface="Pretendard"/>
                <a:ea typeface="Pretendard"/>
                <a:cs typeface="Pretendard"/>
              </a:rPr>
              <a:t>검토 개수 k를 명시</a:t>
            </a:r>
          </a:p>
        </p:txBody>
      </p:sp>
    </p:spTree>
    <p:extLst>
      <p:ext uri="{BB962C8B-B14F-4D97-AF65-F5344CB8AC3E}">
        <p14:creationId xmlns:p14="http://schemas.microsoft.com/office/powerpoint/2010/main" val="1763508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2026-10-18T11:17:20.2510000Z</dcterms:created>
  <dcterms:modified xsi:type="dcterms:W3CDTF">2026-10-18T11:17:20.2510000Z</dcterms:modified>
</coreProperties>
</file>